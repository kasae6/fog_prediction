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9" r:id="rId1"/>
  </p:sldMasterIdLst>
  <p:notesMasterIdLst>
    <p:notesMasterId r:id="rId16"/>
  </p:notesMasterIdLst>
  <p:sldIdLst>
    <p:sldId id="256" r:id="rId2"/>
    <p:sldId id="303" r:id="rId3"/>
    <p:sldId id="285" r:id="rId4"/>
    <p:sldId id="286" r:id="rId5"/>
    <p:sldId id="298" r:id="rId6"/>
    <p:sldId id="292" r:id="rId7"/>
    <p:sldId id="300" r:id="rId8"/>
    <p:sldId id="297" r:id="rId9"/>
    <p:sldId id="293" r:id="rId10"/>
    <p:sldId id="301" r:id="rId11"/>
    <p:sldId id="302" r:id="rId12"/>
    <p:sldId id="294" r:id="rId13"/>
    <p:sldId id="295" r:id="rId14"/>
    <p:sldId id="2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3741" autoAdjust="0"/>
  </p:normalViewPr>
  <p:slideViewPr>
    <p:cSldViewPr snapToGrid="0">
      <p:cViewPr varScale="1">
        <p:scale>
          <a:sx n="63" d="100"/>
          <a:sy n="63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25D631-B3C6-4CA4-9FCD-5107235639F4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19DF9-AA64-47E9-A3CD-FF535179E0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393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Single point prediction</a:t>
            </a:r>
            <a:r>
              <a:rPr lang="en-GB" dirty="0"/>
              <a:t>: Attention collapses sequence to one prediction per window </a:t>
            </a:r>
            <a:r>
              <a:rPr lang="en-GB" b="1" dirty="0"/>
              <a:t>Raw features</a:t>
            </a:r>
            <a:r>
              <a:rPr lang="en-GB" dirty="0"/>
              <a:t>: Mostly raw accelerometer data with minimal engineering </a:t>
            </a:r>
            <a:r>
              <a:rPr lang="en-GB" b="1" dirty="0"/>
              <a:t>Short context</a:t>
            </a:r>
            <a:r>
              <a:rPr lang="en-GB" dirty="0"/>
              <a:t>: 1-second windows capture only immediate patterns </a:t>
            </a:r>
            <a:r>
              <a:rPr lang="en-GB" b="1" dirty="0"/>
              <a:t>Shallow architecture</a:t>
            </a:r>
            <a:r>
              <a:rPr lang="en-GB" dirty="0"/>
              <a:t>: 2 LSTM layers, relies on attention mechanism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9DF9-AA64-47E9-A3CD-FF535179E01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512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P15, :  Captures baseline low movement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p30:  Lower quartile movement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p45:  Below-median movement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p60:  Above-median movement 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p75:  Upper quartile movement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dirty="0"/>
              <a:t>p90:  Captures peak movements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9DF9-AA64-47E9-A3CD-FF535179E0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926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Sequence-to-sequence</a:t>
            </a:r>
            <a:r>
              <a:rPr lang="en-GB" dirty="0"/>
              <a:t>: Predicts class probabilities at EVERY timestep (2048 predictions per sample) </a:t>
            </a:r>
            <a:r>
              <a:rPr lang="en-GB" b="1" dirty="0"/>
              <a:t>Rich features</a:t>
            </a:r>
            <a:r>
              <a:rPr lang="en-GB" dirty="0"/>
              <a:t>: 33 engineered features capture movement statistics and distribution </a:t>
            </a:r>
            <a:r>
              <a:rPr lang="en-GB" b="1" dirty="0"/>
              <a:t>Long context</a:t>
            </a:r>
            <a:r>
              <a:rPr lang="en-GB" dirty="0"/>
              <a:t>: 20-second windows capture complete FOG episodes and their buildup </a:t>
            </a:r>
            <a:r>
              <a:rPr lang="en-GB" b="1" dirty="0"/>
              <a:t>Deep architecture</a:t>
            </a:r>
            <a:r>
              <a:rPr lang="en-GB" dirty="0"/>
              <a:t>: 4 LSTM layers learn hierarchical temporal patterns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Parameters: ~25 </a:t>
            </a:r>
            <a:r>
              <a:rPr lang="en-GB" dirty="0" err="1"/>
              <a:t>millionTraining</a:t>
            </a:r>
            <a:r>
              <a:rPr lang="en-GB" dirty="0"/>
              <a:t>: 30 epochs, batch size 16Optimizer: Adam with Cosine Decay (</a:t>
            </a:r>
            <a:r>
              <a:rPr lang="en-GB" dirty="0" err="1"/>
              <a:t>lr</a:t>
            </a:r>
            <a:r>
              <a:rPr lang="en-GB" dirty="0"/>
              <a:t>=3e-4)Loss: Categorical cross-entropy + custom event detection metric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 err="1"/>
              <a:t>BiLSTM</a:t>
            </a:r>
            <a:r>
              <a:rPr lang="en-GB" sz="1200" dirty="0"/>
              <a:t> layers: 1024 → 512 → 256 → 128 (per direction, so ×2)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9DF9-AA64-47E9-A3CD-FF535179E0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17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9DF9-AA64-47E9-A3CD-FF535179E01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761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Represents the ENTIRE recording (could be 2 minutes, 5 minutes, etc.) compressed into 2048 points. Model sees the COMPLETE compressed recording, not a window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19DF9-AA64-47E9-A3CD-FF535179E01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467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436A-FDBD-4987-8E42-5D097C3ECBEA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52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2F37-6E83-4272-B66D-BB77CB5F1536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24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E15FC-60D6-42CB-8CB1-8D010E4901A3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89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50874-BA77-4837-B30F-7D7C9E3DB585}" type="datetime1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90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D474D-DCF5-4F0E-809F-95C34FF98ABC}" type="datetime1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73224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B88E8-CB43-405F-9EC8-1E94147F6754}" type="datetime1">
              <a:rPr lang="en-GB" smtClean="0"/>
              <a:t>24/02/2026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8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C5C62-911D-4ADC-B999-FE8488F664B2}" type="datetime1">
              <a:rPr lang="en-GB" smtClean="0"/>
              <a:t>24/02/2026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713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C1B7D60-9937-4545-9613-79A18C4AA40B}" type="datetime1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51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9145-A9C4-4022-BA95-50FF57193609}" type="datetime1">
              <a:rPr lang="en-GB" smtClean="0"/>
              <a:t>24/02/2026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11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F9B-8873-4868-82EF-695897758142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9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561D1-93D5-4C5E-B594-5AAD3D9ACF99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58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8BD474D-DCF5-4F0E-809F-95C34FF98ABC}" type="datetime1">
              <a:rPr lang="en-GB" smtClean="0"/>
              <a:t>24/02/2026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57FA6B4-DB1C-4262-90FE-0B17C7A4D1C5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5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A7A11-B9CA-DCF4-95AF-ADBFC5F24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673973"/>
            <a:ext cx="10058400" cy="3566160"/>
          </a:xfrm>
        </p:spPr>
        <p:txBody>
          <a:bodyPr>
            <a:normAutofit/>
          </a:bodyPr>
          <a:lstStyle/>
          <a:p>
            <a:r>
              <a:rPr lang="en-GB" b="1" dirty="0"/>
              <a:t>Parkinson's Freezing of Gait Prediction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50CAC-5AB1-73B4-000D-2BE049A87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392010"/>
            <a:ext cx="10058400" cy="1143000"/>
          </a:xfrm>
        </p:spPr>
        <p:txBody>
          <a:bodyPr/>
          <a:lstStyle/>
          <a:p>
            <a:r>
              <a:rPr lang="en-GB" dirty="0">
                <a:effectLst/>
              </a:rPr>
              <a:t>Event detection from wearable sensor data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3ADCDF-435A-6B9E-DBDC-7CADCA2B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8817" y="5686887"/>
            <a:ext cx="2926080" cy="1397039"/>
          </a:xfrm>
        </p:spPr>
        <p:txBody>
          <a:bodyPr>
            <a:normAutofit/>
          </a:bodyPr>
          <a:lstStyle/>
          <a:p>
            <a:fld id="{F57FA6B4-DB1C-4262-90FE-0B17C7A4D1C5}" type="slidenum">
              <a:rPr lang="en-GB" smtClean="0"/>
              <a:t>1</a:t>
            </a:fld>
            <a:endParaRPr lang="en-GB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280684-D997-535D-E5A5-78CF2FC7BDBD}"/>
              </a:ext>
            </a:extLst>
          </p:cNvPr>
          <p:cNvSpPr txBox="1">
            <a:spLocks/>
          </p:cNvSpPr>
          <p:nvPr/>
        </p:nvSpPr>
        <p:spPr>
          <a:xfrm>
            <a:off x="1066800" y="50498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dirty="0">
                <a:latin typeface="+mj-lt"/>
              </a:rPr>
              <a:t>Karolina Saegner</a:t>
            </a:r>
          </a:p>
          <a:p>
            <a:pPr algn="l"/>
            <a:r>
              <a:rPr lang="en-GB" dirty="0">
                <a:latin typeface="+mj-lt"/>
              </a:rPr>
              <a:t>05 02 2026</a:t>
            </a:r>
          </a:p>
          <a:p>
            <a:pPr algn="l"/>
            <a:r>
              <a:rPr lang="en-GB" dirty="0">
                <a:latin typeface="+mj-lt"/>
              </a:rPr>
              <a:t>Kiel</a:t>
            </a:r>
          </a:p>
        </p:txBody>
      </p:sp>
    </p:spTree>
    <p:extLst>
      <p:ext uri="{BB962C8B-B14F-4D97-AF65-F5344CB8AC3E}">
        <p14:creationId xmlns:p14="http://schemas.microsoft.com/office/powerpoint/2010/main" val="174962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193B-06A5-022C-A2D7-1F97A5F2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A9BE5-6278-F6F0-9C83-2C7504564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233363">
              <a:buFont typeface="Arial" panose="020B0604020202020204" pitchFamily="34" charset="0"/>
              <a:buChar char="•"/>
            </a:pPr>
            <a:r>
              <a:rPr lang="en-GB" dirty="0"/>
              <a:t> Parkinson’s disease – progressive neurodegenerative disorder, affecting motor system and gait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Affects ~300 000 people in Germany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Symptoms: tremor, rigidity, slowness, balance and gait 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r>
              <a:rPr lang="en-GB" dirty="0"/>
              <a:t>Freezing of gait:</a:t>
            </a:r>
          </a:p>
          <a:p>
            <a:pPr marL="0" indent="284163">
              <a:buFont typeface="Arial" panose="020B0604020202020204" pitchFamily="34" charset="0"/>
              <a:buChar char="•"/>
            </a:pPr>
            <a:r>
              <a:rPr lang="en-GB" dirty="0"/>
              <a:t>Sudden, brief inability to move feet forward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Patient feels "glued to the floor“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  Lasts seconds but causes falls, injuries, loss of independence</a:t>
            </a:r>
          </a:p>
          <a:p>
            <a:pPr marL="0" indent="0">
              <a:buNone/>
            </a:pPr>
            <a:r>
              <a:rPr lang="en-GB" dirty="0"/>
              <a:t>Three Types: Start Hesitation, Turn, Walking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90488" indent="255588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E70CC-8C12-F8E2-A3F8-AF5E66E24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7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940C-61F8-B063-C10A-F6CC9339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C8F6A-58D4-4374-E8EF-BA9E4345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652134" cy="4725663"/>
          </a:xfrm>
        </p:spPr>
        <p:txBody>
          <a:bodyPr>
            <a:normAutofit lnSpcReduction="10000"/>
          </a:bodyPr>
          <a:lstStyle/>
          <a:p>
            <a:pPr marL="90488" indent="306388">
              <a:buFont typeface="Arial" panose="020B0604020202020204" pitchFamily="34" charset="0"/>
              <a:buChar char="•"/>
            </a:pPr>
            <a:r>
              <a:rPr lang="en-US" sz="2400" dirty="0"/>
              <a:t>Acceleration data from a lower back Inertial Measurement Unit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US" sz="2400" dirty="0"/>
              <a:t>136 patients, a</a:t>
            </a:r>
            <a:r>
              <a:rPr lang="en-GB" sz="2400" dirty="0" err="1"/>
              <a:t>ge</a:t>
            </a:r>
            <a:r>
              <a:rPr lang="en-GB" sz="2400" dirty="0"/>
              <a:t> range: 28 - 94 years</a:t>
            </a:r>
            <a:endParaRPr lang="en-US" sz="2400" dirty="0"/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US" sz="2400" dirty="0"/>
              <a:t>2 datasets – collected in the lab and at home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US" sz="2400" dirty="0"/>
              <a:t>Different patients in both datasets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US" sz="2200" dirty="0"/>
              <a:t>833 files from 62 patients in the lab dataset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US" sz="2200" dirty="0"/>
              <a:t>137 files from 45 patients in the home dataset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US" sz="2400" dirty="0"/>
              <a:t>3 types of </a:t>
            </a:r>
            <a:r>
              <a:rPr lang="en-US" sz="2400" dirty="0" err="1"/>
              <a:t>FoG</a:t>
            </a:r>
            <a:r>
              <a:rPr lang="en-US" sz="2400" dirty="0"/>
              <a:t> (</a:t>
            </a:r>
            <a:r>
              <a:rPr lang="en-US" sz="2400" dirty="0" err="1"/>
              <a:t>StartHesitation</a:t>
            </a:r>
            <a:r>
              <a:rPr lang="en-US" sz="2400" dirty="0"/>
              <a:t>, Turn, Walking):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US" sz="2200" dirty="0"/>
              <a:t>High class imbalance (Turn </a:t>
            </a:r>
            <a:r>
              <a:rPr lang="en-US" sz="2200" dirty="0" err="1"/>
              <a:t>FoG</a:t>
            </a:r>
            <a:r>
              <a:rPr lang="en-US" sz="2200" dirty="0"/>
              <a:t> &gt; ¾ of all </a:t>
            </a:r>
            <a:r>
              <a:rPr lang="en-US" sz="2200" dirty="0" err="1"/>
              <a:t>FoG</a:t>
            </a:r>
            <a:r>
              <a:rPr lang="en-US" sz="2200" dirty="0"/>
              <a:t> events)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US" sz="2400" dirty="0"/>
              <a:t>Goal: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200" dirty="0"/>
              <a:t>To detect FOG episodes for the </a:t>
            </a:r>
            <a:r>
              <a:rPr lang="en-GB" sz="2200" dirty="0" err="1"/>
              <a:t>tdcsfog</a:t>
            </a:r>
            <a:r>
              <a:rPr lang="en-GB" sz="2200" dirty="0"/>
              <a:t> and defog series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200" dirty="0"/>
              <a:t>To detect the type of FOG episodes (</a:t>
            </a:r>
            <a:r>
              <a:rPr lang="en-GB" sz="2200" dirty="0" err="1"/>
              <a:t>StartHesitation</a:t>
            </a:r>
            <a:r>
              <a:rPr lang="en-GB" sz="2200" dirty="0"/>
              <a:t>, Turn , Walking)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90488" indent="306388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80D57-FF06-CD99-5DF9-963250AB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66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61B0-3D07-62BD-A240-83FFCF27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489A-C461-74F1-DFFA-795144546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0488" indent="0">
              <a:buNone/>
            </a:pPr>
            <a:r>
              <a:rPr lang="en-US" sz="2400" b="1" dirty="0"/>
              <a:t>Logistic regression</a:t>
            </a:r>
          </a:p>
          <a:p>
            <a:pPr marL="90488" indent="3048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0488" indent="304800">
              <a:buFont typeface="Arial" panose="020B0604020202020204" pitchFamily="34" charset="0"/>
              <a:buChar char="•"/>
            </a:pPr>
            <a:r>
              <a:rPr lang="en-US" sz="2400" dirty="0"/>
              <a:t>Validation AP:</a:t>
            </a:r>
          </a:p>
          <a:p>
            <a:pPr marL="383096" lvl="1" indent="304800">
              <a:buFont typeface="Arial" panose="020B0604020202020204" pitchFamily="34" charset="0"/>
              <a:buChar char="•"/>
            </a:pPr>
            <a:r>
              <a:rPr lang="en-US" sz="2200" dirty="0" err="1"/>
              <a:t>StartHesitation</a:t>
            </a:r>
            <a:r>
              <a:rPr lang="en-US" sz="2200" dirty="0"/>
              <a:t>:</a:t>
            </a:r>
            <a:r>
              <a:rPr lang="en-GB" sz="2400" dirty="0"/>
              <a:t> 0.1346</a:t>
            </a:r>
          </a:p>
          <a:p>
            <a:pPr marL="383096" lvl="1" indent="304800">
              <a:buFont typeface="Arial" panose="020B0604020202020204" pitchFamily="34" charset="0"/>
              <a:buChar char="•"/>
            </a:pPr>
            <a:r>
              <a:rPr lang="en-GB" sz="2400" dirty="0"/>
              <a:t>Turn: 0.4116</a:t>
            </a:r>
          </a:p>
          <a:p>
            <a:pPr marL="383096" lvl="1" indent="304800">
              <a:buFont typeface="Arial" panose="020B0604020202020204" pitchFamily="34" charset="0"/>
              <a:buChar char="•"/>
            </a:pPr>
            <a:r>
              <a:rPr lang="en-GB" sz="2400" dirty="0"/>
              <a:t>Walking: 0.0664</a:t>
            </a:r>
          </a:p>
          <a:p>
            <a:pPr marL="90488" indent="3048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0488" indent="3048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B151C-6278-74E9-93C6-1837241F8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4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97BF7DA-E3BB-DC70-E34F-2EEDCB477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713" y="3414034"/>
            <a:ext cx="5681665" cy="13690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07D73D-50A7-DC4F-3BCB-16EEA4DC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446" y="4705378"/>
            <a:ext cx="4983994" cy="14395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9036F8-9F51-E404-CB31-B923CA36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3552" y="2362858"/>
            <a:ext cx="1924255" cy="10661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09E23E-565B-4E21-A14F-51451E25D4E3}"/>
              </a:ext>
            </a:extLst>
          </p:cNvPr>
          <p:cNvSpPr txBox="1"/>
          <p:nvPr/>
        </p:nvSpPr>
        <p:spPr>
          <a:xfrm>
            <a:off x="7464321" y="2632252"/>
            <a:ext cx="2781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Place 1212 / 1379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580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2E992-0073-94C2-DB37-60C4C870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#1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128DF-4494-006B-13DB-E71389391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Raw Data (3):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 err="1"/>
              <a:t>AccV</a:t>
            </a:r>
            <a:r>
              <a:rPr lang="en-GB" sz="2400" dirty="0"/>
              <a:t>, </a:t>
            </a:r>
            <a:r>
              <a:rPr lang="en-GB" sz="2400" dirty="0" err="1"/>
              <a:t>AccML</a:t>
            </a:r>
            <a:r>
              <a:rPr lang="en-GB" sz="2400" dirty="0"/>
              <a:t>, </a:t>
            </a:r>
            <a:r>
              <a:rPr lang="en-GB" sz="2400" dirty="0" err="1"/>
              <a:t>AccAP</a:t>
            </a:r>
            <a:r>
              <a:rPr lang="en-GB" sz="2400" dirty="0"/>
              <a:t> (direct sensor readings)</a:t>
            </a:r>
          </a:p>
          <a:p>
            <a:pPr marL="0" indent="0">
              <a:buNone/>
            </a:pPr>
            <a:r>
              <a:rPr lang="en-GB" sz="2400" dirty="0"/>
              <a:t>Derived (4):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Magnitude: sqrt(AccV² + AccML² + AccAP²)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3 jerk features: rate of change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Total: 7 features, minimal statistical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A889F-FCA9-60FF-4812-42ADBC41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9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B912-786E-770A-DDD4-62C09F92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#1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0F68A-8A62-860A-7450-3DF594D9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725663"/>
          </a:xfrm>
        </p:spPr>
        <p:txBody>
          <a:bodyPr>
            <a:normAutofit/>
          </a:bodyPr>
          <a:lstStyle/>
          <a:p>
            <a:pPr marL="90488" indent="0">
              <a:buNone/>
            </a:pPr>
            <a:r>
              <a:rPr lang="en-GB" sz="2400" dirty="0"/>
              <a:t>Model: Bidirectional LSTM with Attention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Input: (</a:t>
            </a:r>
            <a:r>
              <a:rPr lang="en-GB" sz="2400" dirty="0" err="1"/>
              <a:t>batch_size</a:t>
            </a:r>
            <a:r>
              <a:rPr lang="en-GB" sz="2400" dirty="0"/>
              <a:t> = 512, 96, 7):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200" dirty="0"/>
              <a:t>7 features: 3 raw + 4 derived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/>
              <a:t>Sliding window with 72-step past, 24-step future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Architecture:  </a:t>
            </a:r>
            <a:r>
              <a:rPr lang="en-GB" sz="2400" dirty="0" err="1"/>
              <a:t>BiLSTM</a:t>
            </a:r>
            <a:r>
              <a:rPr lang="en-GB" sz="2400" dirty="0"/>
              <a:t> (256 hidden units, 2 layers)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Attention Mechanism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Dense (256, </a:t>
            </a:r>
            <a:r>
              <a:rPr lang="en-GB" sz="2400" dirty="0" err="1"/>
              <a:t>ReLU</a:t>
            </a:r>
            <a:r>
              <a:rPr lang="en-GB" sz="2400" dirty="0"/>
              <a:t>)  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Dropout (0.4)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Output layer (3)     → [</a:t>
            </a:r>
            <a:r>
              <a:rPr lang="en-GB" sz="2400" dirty="0" err="1"/>
              <a:t>StartHesitation</a:t>
            </a:r>
            <a:r>
              <a:rPr lang="en-GB" sz="2400" dirty="0"/>
              <a:t>, Turn, Walking]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A5D31-D5C0-B5E9-F4E0-1375E45D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50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9ECD-0904-B32D-0591-23F53018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E13FB-E66A-09FF-7480-70A3E9408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286" r="49286"/>
          <a:stretch>
            <a:fillRect/>
          </a:stretch>
        </p:blipFill>
        <p:spPr>
          <a:xfrm>
            <a:off x="-905366" y="1961404"/>
            <a:ext cx="12844996" cy="4127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7B028A-29E7-4CC9-32C1-CB13DD64F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15" y="5411503"/>
            <a:ext cx="3791275" cy="863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DCB150-8CFD-EE0E-71A8-29411845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(LSTM #1)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7C711-6CCC-B319-46EE-1B7AE2296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Validation Score (AP): </a:t>
            </a:r>
            <a:r>
              <a:rPr lang="en-GB" sz="2400" b="1" dirty="0"/>
              <a:t>0.2331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Per class AP: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 err="1"/>
              <a:t>StartHesitation</a:t>
            </a:r>
            <a:r>
              <a:rPr lang="en-GB" sz="2400" dirty="0"/>
              <a:t>: 0.031 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/>
              <a:t>Turn: 0.646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/>
              <a:t>Walking: 0.022</a:t>
            </a:r>
          </a:p>
          <a:p>
            <a:pPr marL="383096" lvl="1" indent="309563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83096" lvl="1" indent="309563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90488" indent="309563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049D-01D2-3F82-FDB9-EB7978D2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A1429-C4FC-BB64-907D-00E98C4E1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775" y="4608183"/>
            <a:ext cx="4188357" cy="1009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C0BD5-C475-F544-F881-6B04B6EA4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843" y="4025367"/>
            <a:ext cx="1051912" cy="582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BD3FA1-3366-F303-A380-B8B57DF1F083}"/>
              </a:ext>
            </a:extLst>
          </p:cNvPr>
          <p:cNvSpPr txBox="1"/>
          <p:nvPr/>
        </p:nvSpPr>
        <p:spPr>
          <a:xfrm>
            <a:off x="2442755" y="4133852"/>
            <a:ext cx="3791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Place 89 / 1379 (bronze)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2007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8EFB-C42F-AB44-BECD-DF814E3EE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#2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303B6-AAF3-8B41-F878-01FBC0EF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504962"/>
          </a:xfrm>
        </p:spPr>
        <p:txBody>
          <a:bodyPr>
            <a:normAutofit fontScale="92500" lnSpcReduction="10000"/>
          </a:bodyPr>
          <a:lstStyle/>
          <a:p>
            <a:r>
              <a:rPr lang="en-GB" sz="2400" b="1" dirty="0"/>
              <a:t>Whole timeseries compressed to 2048 points</a:t>
            </a:r>
          </a:p>
          <a:p>
            <a:r>
              <a:rPr lang="en-GB" sz="2400" b="1" dirty="0"/>
              <a:t>Basic Statistics </a:t>
            </a:r>
            <a:r>
              <a:rPr lang="en-GB" sz="2400" dirty="0"/>
              <a:t>(5 features × 3 axes = 15):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Mean: Average movement intensity over window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Max: Peak acceleration (sudden movements)  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Min: Minimum acceleration (stillness periods)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Median: Central tendency, robust to outliers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Std: Movement variability</a:t>
            </a:r>
          </a:p>
          <a:p>
            <a:r>
              <a:rPr lang="en-GB" sz="2400" b="1" dirty="0"/>
              <a:t>Extended Statistics</a:t>
            </a:r>
            <a:r>
              <a:rPr lang="en-GB" sz="2400" dirty="0"/>
              <a:t> (6 features × 3 axes = 18):  </a:t>
            </a:r>
          </a:p>
          <a:p>
            <a:pPr marL="90488" indent="306388">
              <a:buFont typeface="Arial" panose="020B0604020202020204" pitchFamily="34" charset="0"/>
              <a:buChar char="•"/>
            </a:pPr>
            <a:r>
              <a:rPr lang="en-GB" sz="2400" dirty="0"/>
              <a:t>p15, p30, p45, p60, p75, p90</a:t>
            </a:r>
          </a:p>
          <a:p>
            <a:pPr marL="90488" indent="0">
              <a:buNone/>
            </a:pPr>
            <a:r>
              <a:rPr lang="en-GB" sz="2400" dirty="0"/>
              <a:t>Total: 33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6AA54-0636-CD86-9BD1-BB768FFF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35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38814-BD4E-4FFC-2BAC-459489AF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B17F-C08C-4D76-E4AD-B223001D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#2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0C94-C14B-1180-B261-ADEF89992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Model: Bidirectional LSTM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Input: (batch, 2048, 33):</a:t>
            </a:r>
          </a:p>
          <a:p>
            <a:pPr marL="383096" lvl="1" indent="309563">
              <a:buFont typeface="Arial" panose="020B0604020202020204" pitchFamily="34" charset="0"/>
              <a:buChar char="•"/>
            </a:pPr>
            <a:r>
              <a:rPr lang="en-GB" sz="2200" dirty="0"/>
              <a:t>2048 timesteps (20 seconds @ 100Hz) </a:t>
            </a:r>
          </a:p>
          <a:p>
            <a:pPr marL="383096" lvl="1" indent="309563">
              <a:buFont typeface="Arial" panose="020B0604020202020204" pitchFamily="34" charset="0"/>
              <a:buChar char="•"/>
            </a:pPr>
            <a:r>
              <a:rPr lang="en-GB" sz="2200" dirty="0"/>
              <a:t>33 features: 15 basic statistics + 18 percentile features  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600" dirty="0"/>
              <a:t>Architecture:  </a:t>
            </a:r>
            <a:r>
              <a:rPr lang="en-GB" sz="2600" dirty="0" err="1"/>
              <a:t>BiLSTM</a:t>
            </a:r>
            <a:r>
              <a:rPr lang="en-GB" sz="2600" dirty="0"/>
              <a:t> (1024 units, 4 layers)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Dense (128, SELU) 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Output layer (4, </a:t>
            </a:r>
            <a:r>
              <a:rPr lang="en-GB" sz="2400" dirty="0" err="1"/>
              <a:t>softmax</a:t>
            </a:r>
            <a:r>
              <a:rPr lang="en-GB" sz="2400" dirty="0"/>
              <a:t>)  → [</a:t>
            </a:r>
            <a:r>
              <a:rPr lang="en-GB" sz="2400" dirty="0" err="1"/>
              <a:t>StartHesitation</a:t>
            </a:r>
            <a:r>
              <a:rPr lang="en-GB" sz="2400" dirty="0"/>
              <a:t>, Turn, Walking, </a:t>
            </a:r>
            <a:r>
              <a:rPr lang="en-GB" sz="2400" dirty="0" err="1"/>
              <a:t>NoEvent</a:t>
            </a:r>
            <a:r>
              <a:rPr lang="en-GB" sz="2400" dirty="0"/>
              <a:t>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C64CC-804C-6E1C-E3CE-23010ABC0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063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DE7BD-B9DD-D21B-A932-7F07C9D0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E3C78C-4C6B-303B-D333-C6A3E801E4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4211" r="34211"/>
          <a:stretch>
            <a:fillRect/>
          </a:stretch>
        </p:blipFill>
        <p:spPr>
          <a:xfrm>
            <a:off x="1097280" y="2328051"/>
            <a:ext cx="11114533" cy="3771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0505D-F9B6-DAF2-9272-AA1D70C00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01" y="4337766"/>
            <a:ext cx="1051912" cy="5828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136E9F-B785-1C23-8753-6B6112BC5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(LSTM #2)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2BF05-D95C-7DFE-CB73-4A45782C4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Event Detection AP (any FOG): </a:t>
            </a:r>
            <a:r>
              <a:rPr lang="en-GB" sz="2400" b="1" dirty="0"/>
              <a:t>0.4456</a:t>
            </a:r>
          </a:p>
          <a:p>
            <a:pPr marL="90488" indent="309563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90488" indent="309563">
              <a:buFont typeface="Arial" panose="020B0604020202020204" pitchFamily="34" charset="0"/>
              <a:buChar char="•"/>
            </a:pPr>
            <a:r>
              <a:rPr lang="en-GB" sz="2400" dirty="0"/>
              <a:t>Per class AP: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 err="1"/>
              <a:t>StartHesitation</a:t>
            </a:r>
            <a:r>
              <a:rPr lang="en-GB" sz="2400" dirty="0"/>
              <a:t>: 0.0338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/>
              <a:t>Turn: 0.4432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r>
              <a:rPr lang="en-GB" sz="2400" dirty="0"/>
              <a:t>Walking: 0.0264</a:t>
            </a:r>
          </a:p>
          <a:p>
            <a:pPr marL="383096" lvl="1" indent="306388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83096" lvl="1" indent="306388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83096" lvl="1" indent="306388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83096" lvl="1" indent="306388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83096" lvl="1" indent="309563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383096" lvl="1" indent="309563">
              <a:buFont typeface="Arial" panose="020B0604020202020204" pitchFamily="34" charset="0"/>
              <a:buChar char="•"/>
            </a:pPr>
            <a:endParaRPr lang="en-GB" sz="2400" b="1" dirty="0"/>
          </a:p>
          <a:p>
            <a:pPr marL="90488" indent="309563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7F4E3-5089-7E0C-AB34-CF1B2314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10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58A983-C95D-47FA-1D12-3BB1FD25D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0" y="5699802"/>
            <a:ext cx="3896229" cy="582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2A50C-BFA4-E916-3D02-1149706A7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0" y="4859850"/>
            <a:ext cx="4188357" cy="100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41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ED05-E124-F683-AF32-B734CECD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precision 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8D34A6-54B6-CAB7-ED7F-20FB19736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4175" y="1933945"/>
            <a:ext cx="6603649" cy="44292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D2EC1-D8A1-A619-7C4B-679E22A5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108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59FE-BD9B-65D3-D176-E82C3C73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improvements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DF73-77DA-0319-299B-BB66618EB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488" indent="314325">
              <a:buFont typeface="Arial" panose="020B0604020202020204" pitchFamily="34" charset="0"/>
              <a:buChar char="•"/>
            </a:pPr>
            <a:r>
              <a:rPr lang="en-US" sz="2400" dirty="0"/>
              <a:t>Better feature engineering (7 raw data features vs 33 data-derived features)</a:t>
            </a:r>
          </a:p>
          <a:p>
            <a:pPr marL="90488" indent="314325">
              <a:buFont typeface="Arial" panose="020B0604020202020204" pitchFamily="34" charset="0"/>
              <a:buChar char="•"/>
            </a:pPr>
            <a:r>
              <a:rPr lang="en-US" sz="2400" dirty="0"/>
              <a:t>Temporal context (1 sec window vs whole recording compressed to 20 sec)</a:t>
            </a:r>
          </a:p>
          <a:p>
            <a:pPr marL="90488" indent="314325">
              <a:buFont typeface="Arial" panose="020B0604020202020204" pitchFamily="34" charset="0"/>
              <a:buChar char="•"/>
            </a:pPr>
            <a:r>
              <a:rPr lang="en-US" sz="2400" dirty="0"/>
              <a:t>Model depth (2 layers vs 4 layers)</a:t>
            </a:r>
          </a:p>
          <a:p>
            <a:pPr marL="90488" indent="3143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0488" indent="3143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0488" indent="314325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90488" indent="314325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F028-B57D-58FF-E423-5823205D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723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CF35-64FC-BC43-DB46-C50E29CD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Kaggle ranking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1105D-0DD5-D545-2E30-BE23A07A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534EC8-1151-E01B-2605-745B5D1C1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5765" b="35181"/>
          <a:stretch>
            <a:fillRect/>
          </a:stretch>
        </p:blipFill>
        <p:spPr>
          <a:xfrm>
            <a:off x="2497760" y="286603"/>
            <a:ext cx="7382841" cy="411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A8D2F7-B089-76EB-4AD3-A34B4EB43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579" y="4401403"/>
            <a:ext cx="7284720" cy="8265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D20EF5-D4E0-11AD-709B-1AB508D63E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63366" r="63366"/>
          <a:stretch>
            <a:fillRect/>
          </a:stretch>
        </p:blipFill>
        <p:spPr>
          <a:xfrm>
            <a:off x="6499409" y="5120641"/>
            <a:ext cx="3276119" cy="49005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DECD0BF-60D5-AC77-63B5-EF05F20A4486}"/>
              </a:ext>
            </a:extLst>
          </p:cNvPr>
          <p:cNvSpPr txBox="1"/>
          <p:nvPr/>
        </p:nvSpPr>
        <p:spPr>
          <a:xfrm>
            <a:off x="4050499" y="5120641"/>
            <a:ext cx="130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karsae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32E268-C3C4-6BCF-3D1F-B031DA0E2F17}"/>
              </a:ext>
            </a:extLst>
          </p:cNvPr>
          <p:cNvSpPr txBox="1"/>
          <p:nvPr/>
        </p:nvSpPr>
        <p:spPr>
          <a:xfrm>
            <a:off x="2747216" y="5167379"/>
            <a:ext cx="1303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B6496C-FD1A-036A-9762-9605F35435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943" y="5657436"/>
            <a:ext cx="7196477" cy="5503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59345FB-DB53-6812-564C-A66939E6FE29}"/>
              </a:ext>
            </a:extLst>
          </p:cNvPr>
          <p:cNvSpPr txBox="1"/>
          <p:nvPr/>
        </p:nvSpPr>
        <p:spPr>
          <a:xfrm>
            <a:off x="2747216" y="5785980"/>
            <a:ext cx="558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  <a:endParaRPr lang="en-GB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AA78389-53EF-4A0E-5C9E-43006EFE7AD6}"/>
              </a:ext>
            </a:extLst>
          </p:cNvPr>
          <p:cNvSpPr/>
          <p:nvPr/>
        </p:nvSpPr>
        <p:spPr>
          <a:xfrm>
            <a:off x="2067699" y="5138088"/>
            <a:ext cx="477520" cy="4203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746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6659-D313-58EB-6409-0D6EF612D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I do next?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15083-30FC-2AFE-73FC-C5FBAC256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33388" indent="-342900">
              <a:buFont typeface="Arial" panose="020B0604020202020204" pitchFamily="34" charset="0"/>
              <a:buChar char="•"/>
            </a:pPr>
            <a:r>
              <a:rPr lang="en-US" sz="2000" dirty="0"/>
              <a:t>Convert </a:t>
            </a:r>
            <a:r>
              <a:rPr lang="en-US" dirty="0"/>
              <a:t>IMU acceleration data to images (Signal-to-Image encoding)</a:t>
            </a:r>
          </a:p>
          <a:p>
            <a:pPr marL="433388" indent="-342900">
              <a:buFont typeface="Arial" panose="020B0604020202020204" pitchFamily="34" charset="0"/>
              <a:buChar char="•"/>
            </a:pPr>
            <a:r>
              <a:rPr lang="en-US" dirty="0"/>
              <a:t>Use machine learning models (e.g., CNNs) for image classification </a:t>
            </a:r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60B56-01C3-F448-CFF3-AE65619F2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A6B4-DB1C-4262-90FE-0B17C7A4D1C5}" type="slidenum">
              <a:rPr lang="en-GB" smtClean="0"/>
              <a:t>14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FAE970-9C56-D896-9F7A-6F4D92407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42920"/>
            <a:ext cx="9803182" cy="27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1781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19425</TotalTime>
  <Words>840</Words>
  <Application>Microsoft Office PowerPoint</Application>
  <PresentationFormat>Widescreen</PresentationFormat>
  <Paragraphs>141</Paragraphs>
  <Slides>14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Retrospect</vt:lpstr>
      <vt:lpstr>Parkinson's Freezing of Gait Prediction</vt:lpstr>
      <vt:lpstr>Project </vt:lpstr>
      <vt:lpstr>Project</vt:lpstr>
      <vt:lpstr>Baseline model</vt:lpstr>
      <vt:lpstr>Feature engineering #1</vt:lpstr>
      <vt:lpstr>LSTM #1</vt:lpstr>
      <vt:lpstr>Results (LSTM #1)</vt:lpstr>
      <vt:lpstr>Feature engineering #2</vt:lpstr>
      <vt:lpstr>LSTM #2</vt:lpstr>
      <vt:lpstr>Results (LSTM #2)</vt:lpstr>
      <vt:lpstr>Average precision </vt:lpstr>
      <vt:lpstr>Key improvements</vt:lpstr>
      <vt:lpstr>Kaggle ranking</vt:lpstr>
      <vt:lpstr>What would I do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Karolina Saegner</dc:creator>
  <cp:lastModifiedBy>Karolina Saegner</cp:lastModifiedBy>
  <cp:revision>56</cp:revision>
  <dcterms:created xsi:type="dcterms:W3CDTF">2026-01-14T11:03:33Z</dcterms:created>
  <dcterms:modified xsi:type="dcterms:W3CDTF">2026-02-24T19:02:47Z</dcterms:modified>
</cp:coreProperties>
</file>